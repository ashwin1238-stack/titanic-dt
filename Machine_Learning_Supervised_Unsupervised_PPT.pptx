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1460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6726063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87" y="4243845"/>
            <a:ext cx="2307831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6726064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6833787" y="2590078"/>
            <a:ext cx="2307832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0242" y="2733709"/>
            <a:ext cx="6069268" cy="1373070"/>
          </a:xfrm>
        </p:spPr>
        <p:txBody>
          <a:bodyPr anchor="b">
            <a:noAutofit/>
          </a:bodyPr>
          <a:lstStyle>
            <a:lvl1pPr algn="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241" y="4394040"/>
            <a:ext cx="6108101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55655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1" y="5936189"/>
            <a:ext cx="402166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399" y="2750337"/>
            <a:ext cx="1370293" cy="1356442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385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8" name="Picture 2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9" name="Picture 2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0" name="Rectangle 2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Rectangle 3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548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2728432"/>
            <a:ext cx="9161969" cy="1677035"/>
            <a:chOff x="0" y="2895600"/>
            <a:chExt cx="9161969" cy="1677035"/>
          </a:xfrm>
        </p:grpSpPr>
        <p:pic>
          <p:nvPicPr>
            <p:cNvPr id="19" name="Picture 1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0" name="Picture 1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1" name="Rectangle 2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2869895"/>
            <a:ext cx="688915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1639" y="4232172"/>
            <a:ext cx="688915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65810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0" y="5936189"/>
            <a:ext cx="483467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56438" y="286989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628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753228"/>
            <a:ext cx="688739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2336873"/>
            <a:ext cx="3357899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61128" y="2336873"/>
            <a:ext cx="3359661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700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9" name="Picture 2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0" name="Picture 2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1" name="Rectangle 3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Rectangle 3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30"/>
            <a:ext cx="6896534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0988" y="2336874"/>
            <a:ext cx="3145080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1638" y="3030009"/>
            <a:ext cx="336704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82646" y="2336873"/>
            <a:ext cx="3145527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061129" y="3030009"/>
            <a:ext cx="3367044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071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6" name="Picture 15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7" name="Picture 16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8" name="Rectangle 17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324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HD-ShadowShort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71"/>
          <a:stretch/>
        </p:blipFill>
        <p:spPr>
          <a:xfrm>
            <a:off x="7717217" y="1973262"/>
            <a:ext cx="1444752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710769" y="609600"/>
            <a:ext cx="1433231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987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7"/>
            <a:ext cx="6896534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4385" y="2336874"/>
            <a:ext cx="3913788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2336873"/>
            <a:ext cx="2796240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872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10956" y="2336874"/>
            <a:ext cx="3917217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2336874"/>
            <a:ext cx="2798487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32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3" y="4711617"/>
            <a:ext cx="6894770" cy="544482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31639" y="609598"/>
            <a:ext cx="6896534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5256098"/>
            <a:ext cx="6894772" cy="54781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310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456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2" name="Picture 21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3" name="Picture 22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4" name="Rectangle 23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55" y="609597"/>
            <a:ext cx="6896534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889151" cy="1101764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61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6074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30" name="Picture 29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1" name="Picture 30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2" name="Rectangle 31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921" y="616983"/>
            <a:ext cx="642514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89438" y="3660763"/>
            <a:ext cx="5987731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903919" cy="1101764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270932" y="748116"/>
            <a:ext cx="5334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191" y="2998573"/>
            <a:ext cx="457200" cy="5847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22876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3" name="Picture 22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4" name="Picture 23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5" name="Rectangle 24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8" y="4710340"/>
            <a:ext cx="6896534" cy="5898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9" y="5300150"/>
            <a:ext cx="6896534" cy="51195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2929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32629" y="2329489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39777" y="3015290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8413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2879710" y="3007906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26136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233520" y="3007905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1174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35" name="Picture 34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6" name="Picture 35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7" name="Rectangle 36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8" name="Rectangle 37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32391" y="4297503"/>
            <a:ext cx="21922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32391" y="2336873"/>
            <a:ext cx="2192257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32391" y="4873765"/>
            <a:ext cx="219225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0497" y="4297503"/>
            <a:ext cx="221507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870497" y="2336873"/>
            <a:ext cx="221507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2869483" y="4873764"/>
            <a:ext cx="2218004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31028" y="4297503"/>
            <a:ext cx="219433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231027" y="2336873"/>
            <a:ext cx="2194333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230934" y="4873762"/>
            <a:ext cx="2197239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1745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7" name="Picture 16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8" name="Picture 17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9" name="Rectangle 18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19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0537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 rot="5400000">
            <a:off x="4575305" y="2747178"/>
            <a:ext cx="6862555" cy="1368199"/>
            <a:chOff x="2281445" y="609600"/>
            <a:chExt cx="6862555" cy="1368199"/>
          </a:xfrm>
        </p:grpSpPr>
        <p:sp>
          <p:nvSpPr>
            <p:cNvPr id="12" name="Rectangle 11"/>
            <p:cNvSpPr/>
            <p:nvPr/>
          </p:nvSpPr>
          <p:spPr bwMode="ltGray">
            <a:xfrm>
              <a:off x="2281445" y="609601"/>
              <a:ext cx="5285695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7710769" y="609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64798" y="609597"/>
            <a:ext cx="1069602" cy="446193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241" y="609598"/>
            <a:ext cx="6576359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29144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0241" y="5936189"/>
            <a:ext cx="451895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31152" y="5432500"/>
            <a:ext cx="1149636" cy="1273100"/>
          </a:xfrm>
        </p:spPr>
        <p:txBody>
          <a:bodyPr anchor="t"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477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James\Desktop\msft\Berlin\build Assets\hashOverlaySD-FullResolve.png"/>
          <p:cNvPicPr>
            <a:picLocks noChangeAspect="1" noChangeArrowheads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68580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2336873"/>
            <a:ext cx="6887389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5936189"/>
            <a:ext cx="48346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4599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3736"/>
            <a:ext cx="8229600" cy="6168692"/>
          </a:xfrm>
        </p:spPr>
        <p:txBody>
          <a:bodyPr>
            <a:normAutofit/>
          </a:bodyPr>
          <a:lstStyle/>
          <a:p>
            <a:pPr algn="ctr"/>
            <a:r>
              <a:rPr sz="7200" b="1" dirty="0">
                <a:solidFill>
                  <a:srgbClr val="FFFF00"/>
                </a:solidFill>
              </a:rPr>
              <a:t>Machine Learning Basics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Machine Learning?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Machine Learning enables systems to learn from data</a:t>
            </a:r>
          </a:p>
          <a:p>
            <a:pPr marL="0" indent="0">
              <a:buNone/>
            </a:pPr>
            <a:endParaRPr dirty="0"/>
          </a:p>
          <a:p>
            <a:r>
              <a:rPr dirty="0"/>
              <a:t>Examples:</a:t>
            </a:r>
          </a:p>
          <a:p>
            <a:r>
              <a:rPr dirty="0"/>
              <a:t>• Spam Detection</a:t>
            </a:r>
          </a:p>
          <a:p>
            <a:r>
              <a:rPr dirty="0"/>
              <a:t>• Recommendation Systems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Supervised Learning</a:t>
            </a:r>
          </a:p>
          <a:p>
            <a:r>
              <a:rPr dirty="0"/>
              <a:t>• Unsupervised Learning</a:t>
            </a:r>
          </a:p>
          <a:p>
            <a:r>
              <a:rPr dirty="0"/>
              <a:t>• Semi-Supervised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Supervised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 is labeled</a:t>
            </a:r>
          </a:p>
          <a:p>
            <a:r>
              <a:t>• Input + Output known</a:t>
            </a:r>
          </a:p>
          <a:p>
            <a:endParaRPr/>
          </a:p>
          <a:p>
            <a:r>
              <a:t>Examples:</a:t>
            </a:r>
          </a:p>
          <a:p>
            <a:r>
              <a:t>• House Price Prediction</a:t>
            </a:r>
          </a:p>
          <a:p>
            <a:r>
              <a:t>• Spam Detection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Supervised Learning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Linear Regression</a:t>
            </a:r>
          </a:p>
          <a:p>
            <a:r>
              <a:t>• Logistic Regression</a:t>
            </a:r>
          </a:p>
          <a:p>
            <a:r>
              <a:t>• Decision Tree</a:t>
            </a:r>
          </a:p>
          <a:p>
            <a:r>
              <a:t>• KNN</a:t>
            </a:r>
          </a:p>
          <a:p>
            <a:r>
              <a:t>• Naive Bayes</a:t>
            </a:r>
          </a:p>
          <a:p>
            <a:r>
              <a:t>• SVM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Unsupervised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 is unlabeled</a:t>
            </a:r>
          </a:p>
          <a:p>
            <a:r>
              <a:t>• Finds hidden patterns</a:t>
            </a:r>
          </a:p>
          <a:p>
            <a:endParaRPr/>
          </a:p>
          <a:p>
            <a:r>
              <a:t>Examples:</a:t>
            </a:r>
          </a:p>
          <a:p>
            <a:r>
              <a:t>• Customer Segmentation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Unsupervised Learning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K-Means Clustering</a:t>
            </a:r>
          </a:p>
          <a:p>
            <a:r>
              <a:t>• Hierarchical Clustering</a:t>
            </a:r>
          </a:p>
          <a:p>
            <a:r>
              <a:t>• DBSCAN</a:t>
            </a:r>
          </a:p>
          <a:p>
            <a:r>
              <a:t>• PCA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Train-Test Split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 is divided into training and testing sets</a:t>
            </a:r>
          </a:p>
          <a:p>
            <a:r>
              <a:t>• Common split: 80% Train, 20% Test</a:t>
            </a:r>
          </a:p>
          <a:p>
            <a:endParaRPr/>
          </a:p>
          <a:p>
            <a:r>
              <a:t>Why?</a:t>
            </a:r>
          </a:p>
          <a:p>
            <a:r>
              <a:t>• To evaluate model performance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Encoding Categorical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to convert text into numbers</a:t>
            </a:r>
          </a:p>
          <a:p>
            <a:endParaRPr/>
          </a:p>
          <a:p>
            <a:r>
              <a:t>• Label Encoding</a:t>
            </a:r>
          </a:p>
          <a:p>
            <a:r>
              <a:t>• One-Hot Encoding</a:t>
            </a:r>
          </a:p>
          <a:p>
            <a:endParaRPr/>
          </a:p>
          <a:p>
            <a:r>
              <a:t>Example:</a:t>
            </a:r>
          </a:p>
          <a:p>
            <a:r>
              <a:t>Male/Female → 0/1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Scaling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to scale numeric features</a:t>
            </a:r>
          </a:p>
          <a:p>
            <a:endParaRPr/>
          </a:p>
          <a:p>
            <a:r>
              <a:t>• Normalization</a:t>
            </a:r>
          </a:p>
          <a:p>
            <a:r>
              <a:t>• Standardization</a:t>
            </a:r>
          </a:p>
          <a:p>
            <a:endParaRPr/>
          </a:p>
          <a:p>
            <a:r>
              <a:t>Improves model accuracy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Normalization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Scales data between 0 and 1</a:t>
            </a:r>
          </a:p>
          <a:p>
            <a:endParaRPr/>
          </a:p>
          <a:p>
            <a:r>
              <a:t>Formula:</a:t>
            </a:r>
          </a:p>
          <a:p>
            <a:r>
              <a:t>(X - Min) / (Max - Min)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Standardization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Mean = 0, Standard Deviation = 1</a:t>
            </a:r>
          </a:p>
          <a:p>
            <a:endParaRPr/>
          </a:p>
          <a:p>
            <a:r>
              <a:t>Formula:</a:t>
            </a:r>
          </a:p>
          <a:p>
            <a:r>
              <a:t>(X - Mean) / Std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Scaling is Important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Required for distance-based algorithms</a:t>
            </a:r>
          </a:p>
          <a:p>
            <a:r>
              <a:t>• Improves convergence speed</a:t>
            </a:r>
          </a:p>
          <a:p>
            <a:r>
              <a:t>• Prevents bias in features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ML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Collection → Preprocessing → Train-Test Split →</a:t>
            </a:r>
          </a:p>
          <a:p>
            <a:r>
              <a:t>Model Training → Evaluation → Prediction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Supervised vs Unsupervised Learning</a:t>
            </a:r>
          </a:p>
          <a:p>
            <a:r>
              <a:t>• Train-Test Split</a:t>
            </a:r>
          </a:p>
          <a:p>
            <a:r>
              <a:t>• Encoding</a:t>
            </a:r>
          </a:p>
          <a:p>
            <a:r>
              <a:t>• Scaling &amp; Standardization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5</TotalTime>
  <Words>256</Words>
  <Application>Microsoft Office PowerPoint</Application>
  <PresentationFormat>On-screen Show (4:3)</PresentationFormat>
  <Paragraphs>79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Trebuchet MS</vt:lpstr>
      <vt:lpstr>Berlin</vt:lpstr>
      <vt:lpstr>Machine Learning Basics</vt:lpstr>
      <vt:lpstr>What is Machine Learning?</vt:lpstr>
      <vt:lpstr>Types of Machine Learning</vt:lpstr>
      <vt:lpstr>Supervised Learning</vt:lpstr>
      <vt:lpstr>Supervised Learning Algorithms</vt:lpstr>
      <vt:lpstr>Unsupervised Learning</vt:lpstr>
      <vt:lpstr>Unsupervised Learning Algorithms</vt:lpstr>
      <vt:lpstr>Train-Test Split</vt:lpstr>
      <vt:lpstr>Encoding Categorical Data</vt:lpstr>
      <vt:lpstr>Feature Scaling</vt:lpstr>
      <vt:lpstr>Normalization</vt:lpstr>
      <vt:lpstr>Standardization</vt:lpstr>
      <vt:lpstr>Why Scaling is Important</vt:lpstr>
      <vt:lpstr>ML Workflow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Ashwin Kumar</cp:lastModifiedBy>
  <cp:revision>2</cp:revision>
  <dcterms:created xsi:type="dcterms:W3CDTF">2013-01-27T09:14:16Z</dcterms:created>
  <dcterms:modified xsi:type="dcterms:W3CDTF">2026-01-26T17:03:15Z</dcterms:modified>
  <cp:category/>
</cp:coreProperties>
</file>